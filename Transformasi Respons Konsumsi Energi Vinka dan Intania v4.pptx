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JetBrains Mono"/>
      <p:bold r:id="rId9"/>
    </p:embeddedFont>
    <p:embeddedFont>
      <p:font typeface="Plus Jakarta Sans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516635"/>
            <a:ext cx="38100" cy="419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2264"/>
            <a:ext cx="11277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LAPORAN ANALISIS REGRESI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4214"/>
            <a:ext cx="970121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Transformasi Respons pada Pemodelan Konsumsi Energi Rumah Tangga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6035"/>
            <a:ext cx="75247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0" i="0" u="none" dirty="0" err="1">
                <a:solidFill>
                  <a:srgbClr val="94A3B8"/>
                </a:solidFill>
                <a:latin typeface="Plus Jakarta Sans"/>
              </a:rPr>
              <a:t>Regresi</a:t>
            </a:r>
            <a:r>
              <a:rPr lang="en-US" sz="1500" b="0" i="0" u="none" dirty="0">
                <a:solidFill>
                  <a:srgbClr val="94A3B8"/>
                </a:solidFill>
                <a:latin typeface="Plus Jakarta Sans"/>
              </a:rPr>
              <a:t> Linier </a:t>
            </a:r>
            <a:r>
              <a:rPr lang="en-US" sz="1500" b="0" i="0" u="none" dirty="0" err="1">
                <a:solidFill>
                  <a:srgbClr val="94A3B8"/>
                </a:solidFill>
                <a:latin typeface="Plus Jakarta Sans"/>
              </a:rPr>
              <a:t>dengan</a:t>
            </a:r>
            <a:r>
              <a:rPr lang="en-US"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lang="en-US" sz="1500" b="0" i="0" u="none">
                <a:solidFill>
                  <a:srgbClr val="94A3B8"/>
                </a:solidFill>
                <a:latin typeface="Plus Jakarta Sans"/>
              </a:rPr>
              <a:t>Bencmark</a:t>
            </a:r>
            <a:r>
              <a:rPr lang="en-US" sz="1500" b="0" i="0" u="none" dirty="0">
                <a:solidFill>
                  <a:srgbClr val="94A3B8"/>
                </a:solidFill>
                <a:latin typeface="Plus Jakarta Sans"/>
              </a:rPr>
              <a:t> Random Forest</a:t>
            </a:r>
            <a:endParaRPr sz="15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7300" y="4521398"/>
            <a:ext cx="4238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Intania Bungan Apui &amp; Vinka Marisa Putri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300" y="4759523"/>
            <a:ext cx="4238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Program Studi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Statistika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• Universitas Padjadjaran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96F06-7C4F-916A-8886-967EB700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4" y="121104"/>
            <a:ext cx="1109332" cy="959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852612"/>
            <a:ext cx="32385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167062"/>
            <a:ext cx="32385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481512"/>
            <a:ext cx="32385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6350"/>
            <a:ext cx="10820400" cy="5124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DISTRIBUSI VARIABEL RESPONS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Pola Asli Heavy-Tailed vs Normalisasi Box-Cox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052637"/>
            <a:ext cx="3500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Jumlah Observasi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243137"/>
            <a:ext cx="350043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Plus Jakarta Sans"/>
              </a:rPr>
              <a:t>19.735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2643187"/>
            <a:ext cx="350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Nol missing value &amp; nilai minimum 10 Wh.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367087"/>
            <a:ext cx="3500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Kemiringan (Skewness)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557587"/>
            <a:ext cx="350043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11D48"/>
                </a:solidFill>
                <a:latin typeface="Plus Jakarta Sans"/>
              </a:rPr>
              <a:t>+3,39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957637"/>
            <a:ext cx="350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Asimetri tajam akibat lonjakan daya sesaat.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681537"/>
            <a:ext cx="3500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Nilai Lambda 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872037"/>
            <a:ext cx="350043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6A34A"/>
                </a:solidFill>
                <a:latin typeface="Plus Jakarta Sans"/>
              </a:rPr>
              <a:t>λ = -0,504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5281612"/>
            <a:ext cx="2895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Estimasi MLE dengan CI 95%: [-0,521; -0,487].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07385" y="2424112"/>
            <a:ext cx="479881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7385" y="3405187"/>
            <a:ext cx="479881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7385" y="4386262"/>
            <a:ext cx="4798814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7385" y="2424112"/>
            <a:ext cx="38100" cy="866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7385" y="3405187"/>
            <a:ext cx="38100" cy="866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07385" y="4386262"/>
            <a:ext cx="38100" cy="866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6350"/>
            <a:ext cx="10820400" cy="512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85" y="2605087"/>
            <a:ext cx="857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985" y="3586162"/>
            <a:ext cx="1047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985" y="4567237"/>
            <a:ext cx="1809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572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REDUKSI DIMENSI PREDIKTOR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85800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Seleksi Fitur RFE: Titik Lembah 13 Variabel Kunci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5985" y="2576512"/>
            <a:ext cx="5256014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Suhu Ruangan (5 Fitur)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5985" y="2795587"/>
            <a:ext cx="447496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T1, T2, T3, T8, T9.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Suhu area laundry (T3) memiliki efek terbesar (+28,59 Wh/°C).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5985" y="3557587"/>
            <a:ext cx="5256014" cy="1809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Kelembapan Relatif (5 Fitur)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5985" y="3776662"/>
            <a:ext cx="447496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RH_1, RH_2, RH_3, RH_8, RH_9.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Saling berinteraksi dengan ventilasi dan peralatan.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5985" y="4538662"/>
            <a:ext cx="5256014" cy="18097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Cuaca Eksternal (3 Fitur)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5985" y="4757737"/>
            <a:ext cx="447496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T6, T_out, Tdewpoint.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Memberikan efek penyeimbang termal beban pendinginan/pemanas.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24025"/>
            <a:ext cx="10344150" cy="1143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85800" y="1238250"/>
            <a:ext cx="10820400" cy="981075"/>
          </a:xfrm>
          <a:prstGeom prst="roundRect">
            <a:avLst>
              <a:gd name="adj" fmla="val 1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447925"/>
            <a:ext cx="3479750" cy="3952875"/>
          </a:xfrm>
          <a:prstGeom prst="roundRect">
            <a:avLst>
              <a:gd name="adj" fmla="val 32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56050" y="2447925"/>
            <a:ext cx="3479750" cy="3952875"/>
          </a:xfrm>
          <a:prstGeom prst="roundRect">
            <a:avLst>
              <a:gd name="adj" fmla="val 32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447925"/>
            <a:ext cx="3479750" cy="3952875"/>
          </a:xfrm>
          <a:prstGeom prst="roundRect">
            <a:avLst>
              <a:gd name="adj" fmla="val 32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1724025"/>
            <a:ext cx="2689473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39614" y="1724025"/>
            <a:ext cx="2556238" cy="11906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51" y="1724025"/>
            <a:ext cx="5172075" cy="1143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639127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4792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447925"/>
            <a:ext cx="38100" cy="3952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56025" y="2447925"/>
            <a:ext cx="9525" cy="395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3450" y="5886450"/>
            <a:ext cx="3013025" cy="295275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6050" y="639127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6050" y="244792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6050" y="2447925"/>
            <a:ext cx="38100" cy="39528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26275" y="2447925"/>
            <a:ext cx="9525" cy="395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03700" y="5886450"/>
            <a:ext cx="3013025" cy="295275"/>
          </a:xfrm>
          <a:prstGeom prst="roundRect">
            <a:avLst>
              <a:gd name="adj" fmla="val 2580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26300" y="639127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6300" y="2447925"/>
            <a:ext cx="3479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6300" y="2447925"/>
            <a:ext cx="38100" cy="39528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496526" y="2447925"/>
            <a:ext cx="9525" cy="395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73950" y="5886450"/>
            <a:ext cx="3013025" cy="295275"/>
          </a:xfrm>
          <a:prstGeom prst="roundRect">
            <a:avLst>
              <a:gd name="adj" fmla="val 2580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98865" y="1419225"/>
            <a:ext cx="1524000" cy="209550"/>
          </a:xfrm>
          <a:prstGeom prst="roundRect">
            <a:avLst>
              <a:gd name="adj" fmla="val 2727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37165" y="1419225"/>
            <a:ext cx="1457325" cy="209550"/>
          </a:xfrm>
          <a:prstGeom prst="roundRect">
            <a:avLst>
              <a:gd name="adj" fmla="val 2727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08790" y="1419225"/>
            <a:ext cx="1659284" cy="209550"/>
          </a:xfrm>
          <a:prstGeom prst="roundRect">
            <a:avLst>
              <a:gd name="adj" fmla="val 2727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57200"/>
            <a:ext cx="15709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0284C7"/>
                </a:solidFill>
                <a:latin typeface="JetBrains Mono"/>
              </a:rPr>
              <a:t>DIAGNOSTIK </a:t>
            </a:r>
            <a:r>
              <a:rPr lang="en-US" sz="1050" b="0" i="0" u="none" dirty="0">
                <a:solidFill>
                  <a:srgbClr val="0284C7"/>
                </a:solidFill>
                <a:latin typeface="JetBrains Mono"/>
              </a:rPr>
              <a:t>AUTOKORELASI</a:t>
            </a:r>
            <a:endParaRPr sz="1050" b="0" i="0" u="none" dirty="0">
              <a:solidFill>
                <a:srgbClr val="0284C7"/>
              </a:solidFill>
              <a:latin typeface="JetBrains Mon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685800"/>
            <a:ext cx="529035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Autokorelasi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: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Efek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Pencatatan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Tiap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10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Menit</a:t>
            </a:r>
            <a:endParaRPr sz="22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3925" y="1433512"/>
            <a:ext cx="2821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Skala Skor Durbin-Watson (DW)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1895475"/>
            <a:ext cx="20597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0,0 (Autokorelasi Positif Kuat)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9100" y="1895475"/>
            <a:ext cx="1690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Plus Jakarta Sans"/>
              </a:rPr>
              <a:t>DW Hasil Uji: 0,50 - 0,59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9001" y="1895475"/>
            <a:ext cx="2940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2,0 (Bebas Autokorelasi / Asumsi Terpenuhi)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9027" y="1895475"/>
            <a:ext cx="1785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4,0 (Autokorelasi Negatif)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4115" y="144780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DC2626"/>
                </a:solidFill>
                <a:latin typeface="JetBrains Mono"/>
              </a:rPr>
              <a:t>Baseline: DW = 0,599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2415" y="1447800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A580C"/>
                </a:solidFill>
                <a:latin typeface="JetBrains Mono"/>
              </a:rPr>
              <a:t>Box-Cox: DW = 0,507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4040" y="1447800"/>
            <a:ext cx="156403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JetBrains Mono"/>
              </a:rPr>
              <a:t>Target Ideal: DW ≈ 2,0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450" y="2667000"/>
            <a:ext cx="3766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Mengapa Terjadi?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450" y="2943225"/>
            <a:ext cx="31082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Keterikatan Waktu: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Konsumsi listrik pada 10 menit ini pasti berhubungan erat dengan 10 menit sebelumnya (peralatan tidak langsung mati seketika).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50" y="5962650"/>
            <a:ext cx="3480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E40AF"/>
                </a:solidFill>
                <a:latin typeface="Plus Jakarta Sans"/>
              </a:rPr>
              <a:t>Data memiliki memori jangka pendek.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3700" y="2667000"/>
            <a:ext cx="3766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Apa Dampak Statistisnya?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3700" y="2943225"/>
            <a:ext cx="31082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Inflasi Signifikansi: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Standard error menyusut secara semu, sehingga p-value koefisien tampak terlalu signifikan dari kenyataan sebenarnya.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8000" y="5962650"/>
            <a:ext cx="3480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91B1B"/>
                </a:solidFill>
                <a:latin typeface="Plus Jakarta Sans"/>
              </a:rPr>
              <a:t>Uji t parsial harus diinterpretasi hati-hati.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3950" y="2667000"/>
            <a:ext cx="3766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Solusi Metodologis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3950" y="2943225"/>
            <a:ext cx="31082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Pemodelan Time-Series: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Transformasi Box-Cox merapikan distribusi data respons, namun memerlukan model GLS, ARIMAX, atau GAM untuk galatnya.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8250" y="5962650"/>
            <a:ext cx="3480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66534"/>
                </a:solidFill>
                <a:latin typeface="Plus Jakarta Sans"/>
              </a:rPr>
              <a:t>Menjadi fondasi riset lanjutan.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42832" y="2030313"/>
            <a:ext cx="4563367" cy="1103858"/>
          </a:xfrm>
          <a:prstGeom prst="roundRect">
            <a:avLst>
              <a:gd name="adj" fmla="val 1035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2832" y="3267521"/>
            <a:ext cx="4563367" cy="1103858"/>
          </a:xfrm>
          <a:prstGeom prst="roundRect">
            <a:avLst>
              <a:gd name="adj" fmla="val 10354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2832" y="4504729"/>
            <a:ext cx="4563367" cy="1103858"/>
          </a:xfrm>
          <a:prstGeom prst="roundRect">
            <a:avLst>
              <a:gd name="adj" fmla="val 1035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2832" y="2030313"/>
            <a:ext cx="38100" cy="110385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2832" y="3267521"/>
            <a:ext cx="38100" cy="110385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42832" y="4504729"/>
            <a:ext cx="38100" cy="110385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8250"/>
            <a:ext cx="10820400" cy="5162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572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DIAGNOSTIK INDEPENDENSI PREDIKTOR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85800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Memahami VIF: Mengapa 7 Variabel Bernilai &gt; 10?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1432" y="2182713"/>
            <a:ext cx="50205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Plus Jakarta Sans"/>
              </a:rPr>
              <a:t>Apa Penyebab Fisiknya?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1432" y="2401788"/>
            <a:ext cx="4239517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Keterikatan Termal Alami: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Saat cuaca luar (T_out) panas terik, suhu kamar tidur (T2) dan dapur (T1) otomatis ikut meningkat bersamaan karena berada dalam satu rumah.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1432" y="3419921"/>
            <a:ext cx="50205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A3412"/>
                </a:solidFill>
                <a:latin typeface="Plus Jakarta Sans"/>
              </a:rPr>
              <a:t>Apa Dampak Matematisnya?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1432" y="3638996"/>
            <a:ext cx="4239517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Variansi Koefisien Membesar: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Kita tidak bisa dengan mudah mengisolasi efek murni satu ruangan secara mandiri tanpa terpengaruh ruangan 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1432" y="4657129"/>
            <a:ext cx="50205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4532D"/>
                </a:solidFill>
                <a:latin typeface="Plus Jakarta Sans"/>
              </a:rPr>
              <a:t>Mengapa Tetap Dipertahankan?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1432" y="4876204"/>
            <a:ext cx="4239517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Akurasi Prediksi Total: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Multikolinearitas tidak merusak akurasi prediksi keseluruhan model regresi, melainkan hanya interpretasi parsial koefisien individualnya.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3900" y="3524250"/>
            <a:ext cx="5276850" cy="942975"/>
          </a:xfrm>
          <a:prstGeom prst="roundRect">
            <a:avLst>
              <a:gd name="adj" fmla="val 1010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3425" y="1800225"/>
            <a:ext cx="4041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74852" y="1800225"/>
            <a:ext cx="1824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99039" y="1800225"/>
            <a:ext cx="16950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94042" y="1800225"/>
            <a:ext cx="172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21341" y="1800225"/>
            <a:ext cx="1437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3524250"/>
            <a:ext cx="5276850" cy="942975"/>
          </a:xfrm>
          <a:prstGeom prst="roundRect">
            <a:avLst>
              <a:gd name="adj" fmla="val 1010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3425" y="2295525"/>
            <a:ext cx="40414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74852" y="2295525"/>
            <a:ext cx="18241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99039" y="2295525"/>
            <a:ext cx="16950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94042" y="2295525"/>
            <a:ext cx="17272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21341" y="2295525"/>
            <a:ext cx="14372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3425" y="2790825"/>
            <a:ext cx="40414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74852" y="2790825"/>
            <a:ext cx="1824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99039" y="2790825"/>
            <a:ext cx="16950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94042" y="2790825"/>
            <a:ext cx="172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21341" y="2790825"/>
            <a:ext cx="1437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23900" y="1314450"/>
          <a:ext cx="10725148" cy="1981200"/>
        </p:xfrm>
        <a:graphic>
          <a:graphicData uri="http://schemas.openxmlformats.org/drawingml/2006/table">
            <a:tbl>
              <a:tblPr/>
              <a:tblGrid>
                <a:gridCol w="4041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Model Pembanding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RMSE (Wh)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MAE (Wh)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MAPE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R² Skor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Regresi Baseline (Skala Asli)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84,87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52,12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63,37%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Model Box-Cox (λ = -0,504)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84,04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40,69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39,19%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66534"/>
                          </a:solidFill>
                          <a:latin typeface="Plus Jakarta Sans"/>
                        </a:rPr>
                        <a:t>0,093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Benchmark 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189,97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162,86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240,47%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-3,630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23900" y="495300"/>
            <a:ext cx="11468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VALIDASI EKSTERNAL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723900"/>
            <a:ext cx="114681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Evaluasi Data Uji: Skala Asli Konsumsi (Wh)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3695700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E40AF"/>
                </a:solidFill>
                <a:latin typeface="Plus Jakarta Sans"/>
              </a:rPr>
              <a:t>Keunggulan Nyata Box-Cox: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Menurunkan galat absolut (MAE) sebesar </a:t>
            </a:r>
            <a:r>
              <a:rPr sz="1050" b="1" i="0" u="none">
                <a:solidFill>
                  <a:srgbClr val="1E40AF"/>
                </a:solidFill>
                <a:latin typeface="Plus Jakarta Sans"/>
              </a:rPr>
              <a:t>21,9%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serta memangkas MAPE dari 63,37% ke 39,19% karena efektif memprediksi median kondisional.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95700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991B1B"/>
                </a:solidFill>
                <a:latin typeface="Plus Jakarta Sans"/>
              </a:rPr>
              <a:t>Kegagalan Random Forest:</a:t>
            </a:r>
            <a:r>
              <a:rPr sz="1050" b="0" i="0" u="none">
                <a:solidFill>
                  <a:srgbClr val="991B1B"/>
                </a:solidFill>
                <a:latin typeface="Plus Jakarta Sans"/>
              </a:rPr>
              <a:t> Over-prediksi masif (rata-rata prediksi 241 Wh vs aktual 97 Wh) akibat abai terhadap struktur dependensi urutan waktu deret waktu.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24000" y="2914650"/>
            <a:ext cx="4457700" cy="1190625"/>
          </a:xfrm>
          <a:prstGeom prst="roundRect">
            <a:avLst>
              <a:gd name="adj" fmla="val 112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14650"/>
            <a:ext cx="4457700" cy="1190625"/>
          </a:xfrm>
          <a:prstGeom prst="roundRect">
            <a:avLst>
              <a:gd name="adj" fmla="val 112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3200400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200400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32942" y="2124075"/>
            <a:ext cx="892611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F8FAFC"/>
                </a:solidFill>
                <a:latin typeface="Plus Jakarta Sans"/>
              </a:rPr>
              <a:t>Arah Solusi &amp; Pengembangan Lanjutan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5" y="3171825"/>
            <a:ext cx="4929187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1. Solusi Autokorelasi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1175" y="3448050"/>
            <a:ext cx="4038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Terapkan model regresi yang mengakomodasi struktur deret waktu, seperti ARIMAX, GLS dengan error AR(1), atau GAM.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171825"/>
            <a:ext cx="4929187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2. Integrasi Data Okupansi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448050"/>
            <a:ext cx="4038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Rekam aktivitas nyata penghuni (keberadaan di rumah, memasak) untuk menjelaskan variasi lonjakan energi laten.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DDE0DA-FD06-8715-BF59-DC6690C40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054" y="513147"/>
            <a:ext cx="1671308" cy="1445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607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JetBrains Mono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Vinka Marissa</cp:lastModifiedBy>
  <cp:revision>6</cp:revision>
  <dcterms:created xsi:type="dcterms:W3CDTF">2013-01-27T09:14:16Z</dcterms:created>
  <dcterms:modified xsi:type="dcterms:W3CDTF">2026-09-26T05:57:05Z</dcterms:modified>
  <cp:category/>
</cp:coreProperties>
</file>